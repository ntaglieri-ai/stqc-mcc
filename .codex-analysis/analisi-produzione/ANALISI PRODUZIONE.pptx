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76" r:id="rId3"/>
    <p:sldId id="278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91" r:id="rId12"/>
    <p:sldId id="292" r:id="rId13"/>
    <p:sldId id="279" r:id="rId14"/>
    <p:sldId id="293" r:id="rId15"/>
    <p:sldId id="281" r:id="rId16"/>
    <p:sldId id="289" r:id="rId17"/>
    <p:sldId id="290" r:id="rId18"/>
    <p:sldId id="267" r:id="rId19"/>
    <p:sldId id="273" r:id="rId20"/>
    <p:sldId id="274" r:id="rId21"/>
    <p:sldId id="275" r:id="rId22"/>
  </p:sldIdLst>
  <p:sldSz cx="12192000" cy="6858000"/>
  <p:notesSz cx="6797675" cy="99266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NASMCC\Ricerca%20sviluppo\Direzione\Avanzamento%20Produzione\Report%20Giugno%20%2026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defRPr>
            </a:pPr>
            <a:r>
              <a:rPr lang="it-IT" sz="1600">
                <a:solidFill>
                  <a:sysClr val="windowText" lastClr="000000"/>
                </a:solidFill>
              </a:rPr>
              <a:t>Tutte</a:t>
            </a:r>
            <a:r>
              <a:rPr lang="it-IT" sz="1600" baseline="0">
                <a:solidFill>
                  <a:sysClr val="windowText" lastClr="000000"/>
                </a:solidFill>
              </a:rPr>
              <a:t> le </a:t>
            </a:r>
            <a:r>
              <a:rPr lang="it-IT" sz="1600">
                <a:solidFill>
                  <a:sysClr val="windowText" lastClr="000000"/>
                </a:solidFill>
              </a:rPr>
              <a:t>commesse - Kg/h</a:t>
            </a:r>
            <a:r>
              <a:rPr lang="it-IT" sz="1600" baseline="0">
                <a:solidFill>
                  <a:sysClr val="windowText" lastClr="000000"/>
                </a:solidFill>
              </a:rPr>
              <a:t> operatore</a:t>
            </a:r>
            <a:endParaRPr lang="it-IT" sz="1600">
              <a:solidFill>
                <a:sysClr val="windowText" lastClr="000000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ysClr val="windowText" lastClr="000000"/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0"/>
          <c:tx>
            <c:v>OPERATORE</c:v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F82-4E66-AB90-313D9513FB34}"/>
              </c:ext>
            </c:extLst>
          </c:dPt>
          <c:dPt>
            <c:idx val="2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F82-4E66-AB90-313D9513FB34}"/>
              </c:ext>
            </c:extLst>
          </c:dPt>
          <c:dPt>
            <c:idx val="4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F82-4E66-AB90-313D9513FB34}"/>
              </c:ext>
            </c:extLst>
          </c:dPt>
          <c:dPt>
            <c:idx val="6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F82-4E66-AB90-313D9513FB34}"/>
              </c:ext>
            </c:extLst>
          </c:dPt>
          <c:dPt>
            <c:idx val="7"/>
            <c:invertIfNegative val="0"/>
            <c:bubble3D val="0"/>
            <c:spPr>
              <a:solidFill>
                <a:srgbClr val="92D05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F82-4E66-AB90-313D9513FB34}"/>
              </c:ext>
            </c:extLst>
          </c:dPt>
          <c:dLbls>
            <c:dLbl>
              <c:idx val="3"/>
              <c:layout>
                <c:manualLayout>
                  <c:x val="0"/>
                  <c:y val="-1.937984496124031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5F82-4E66-AB90-313D9513FB34}"/>
                </c:ext>
              </c:extLst>
            </c:dLbl>
            <c:dLbl>
              <c:idx val="5"/>
              <c:layout>
                <c:manualLayout>
                  <c:x val="-1.4124293785311771E-3"/>
                  <c:y val="-4.65116279069768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F82-4E66-AB90-313D9513FB3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'CRUSCOTTO '!$B$38:$B$45</c:f>
              <c:strCache>
                <c:ptCount val="8"/>
                <c:pt idx="0">
                  <c:v>DI LEGGE PIETRO</c:v>
                </c:pt>
                <c:pt idx="1">
                  <c:v>EL KHARTA BADR</c:v>
                </c:pt>
                <c:pt idx="2">
                  <c:v>TURRI GUGLIELMO</c:v>
                </c:pt>
                <c:pt idx="3">
                  <c:v>AIT EL BAKKAL MOHAMMED</c:v>
                </c:pt>
                <c:pt idx="4">
                  <c:v>NUCCITELLI ANDREA</c:v>
                </c:pt>
                <c:pt idx="5">
                  <c:v>SAID SSOUFI</c:v>
                </c:pt>
                <c:pt idx="6">
                  <c:v>SALIM MEHDI</c:v>
                </c:pt>
                <c:pt idx="7">
                  <c:v>VILLA CLAUDIO</c:v>
                </c:pt>
              </c:strCache>
            </c:strRef>
          </c:cat>
          <c:val>
            <c:numRef>
              <c:f>'CRUSCOTTO '!$F$38:$F$45</c:f>
              <c:numCache>
                <c:formatCode>General</c:formatCode>
                <c:ptCount val="8"/>
                <c:pt idx="0">
                  <c:v>44</c:v>
                </c:pt>
                <c:pt idx="1">
                  <c:v>281</c:v>
                </c:pt>
                <c:pt idx="2">
                  <c:v>66</c:v>
                </c:pt>
                <c:pt idx="3">
                  <c:v>32</c:v>
                </c:pt>
                <c:pt idx="4">
                  <c:v>90</c:v>
                </c:pt>
                <c:pt idx="5">
                  <c:v>60</c:v>
                </c:pt>
                <c:pt idx="6">
                  <c:v>158</c:v>
                </c:pt>
                <c:pt idx="7">
                  <c:v>154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F82-4E66-AB90-313D9513FB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11078848"/>
        <c:axId val="911074688"/>
      </c:barChart>
      <c:lineChart>
        <c:grouping val="standard"/>
        <c:varyColors val="0"/>
        <c:ser>
          <c:idx val="0"/>
          <c:order val="1"/>
          <c:tx>
            <c:v>TARGET</c:v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'CRUSCOTTO '!$G$38:$G$45</c:f>
              <c:numCache>
                <c:formatCode>General</c:formatCode>
                <c:ptCount val="8"/>
                <c:pt idx="0">
                  <c:v>130</c:v>
                </c:pt>
                <c:pt idx="1">
                  <c:v>130</c:v>
                </c:pt>
                <c:pt idx="2">
                  <c:v>130</c:v>
                </c:pt>
                <c:pt idx="3">
                  <c:v>130</c:v>
                </c:pt>
                <c:pt idx="4">
                  <c:v>130</c:v>
                </c:pt>
                <c:pt idx="5">
                  <c:v>130</c:v>
                </c:pt>
                <c:pt idx="6">
                  <c:v>130</c:v>
                </c:pt>
                <c:pt idx="7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5F82-4E66-AB90-313D9513FB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11078848"/>
        <c:axId val="911074688"/>
      </c:lineChart>
      <c:catAx>
        <c:axId val="9110788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911074688"/>
        <c:crosses val="autoZero"/>
        <c:auto val="1"/>
        <c:lblAlgn val="ctr"/>
        <c:lblOffset val="100"/>
        <c:noMultiLvlLbl val="0"/>
      </c:catAx>
      <c:valAx>
        <c:axId val="91107468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911078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it-IT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FF0000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defRPr>
            </a:pPr>
            <a:r>
              <a:rPr lang="it-IT" dirty="0">
                <a:solidFill>
                  <a:srgbClr val="FF0000"/>
                </a:solidFill>
                <a:highlight>
                  <a:srgbClr val="FFFF00"/>
                </a:highlight>
              </a:rPr>
              <a:t>Kg/h</a:t>
            </a:r>
            <a:r>
              <a:rPr lang="it-IT" baseline="0" dirty="0">
                <a:solidFill>
                  <a:srgbClr val="FF0000"/>
                </a:solidFill>
                <a:highlight>
                  <a:srgbClr val="FFFF00"/>
                </a:highlight>
              </a:rPr>
              <a:t> Assemblaggio - Saldatura</a:t>
            </a:r>
            <a:endParaRPr lang="it-IT" dirty="0">
              <a:solidFill>
                <a:srgbClr val="FF0000"/>
              </a:solidFill>
              <a:highlight>
                <a:srgbClr val="FFFF00"/>
              </a:highligh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FF0000"/>
              </a:solidFill>
              <a:highlight>
                <a:srgbClr val="FFFF00"/>
              </a:highlight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>
        <c:manualLayout>
          <c:layoutTarget val="inner"/>
          <c:xMode val="edge"/>
          <c:yMode val="edge"/>
          <c:x val="4.2492933575610743E-2"/>
          <c:y val="0.16157597871523"/>
          <c:w val="0.94468655360387643"/>
          <c:h val="0.60190336509822995"/>
        </c:manualLayout>
      </c:layout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Assemblaggio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Febbraio</c:v>
                </c:pt>
                <c:pt idx="1">
                  <c:v>Marzo</c:v>
                </c:pt>
                <c:pt idx="2">
                  <c:v>Aprile</c:v>
                </c:pt>
                <c:pt idx="3">
                  <c:v>Maggio</c:v>
                </c:pt>
                <c:pt idx="4">
                  <c:v>Giugno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267</c:v>
                </c:pt>
                <c:pt idx="1">
                  <c:v>132</c:v>
                </c:pt>
                <c:pt idx="2">
                  <c:v>214</c:v>
                </c:pt>
                <c:pt idx="3">
                  <c:v>275</c:v>
                </c:pt>
                <c:pt idx="4">
                  <c:v>151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799-4CD5-AC8D-9600319BF5EE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Saldatura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Febbraio</c:v>
                </c:pt>
                <c:pt idx="1">
                  <c:v>Marzo</c:v>
                </c:pt>
                <c:pt idx="2">
                  <c:v>Aprile</c:v>
                </c:pt>
                <c:pt idx="3">
                  <c:v>Maggio</c:v>
                </c:pt>
                <c:pt idx="4">
                  <c:v>Giugno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180</c:v>
                </c:pt>
                <c:pt idx="1">
                  <c:v>184</c:v>
                </c:pt>
                <c:pt idx="2">
                  <c:v>155</c:v>
                </c:pt>
                <c:pt idx="3">
                  <c:v>176</c:v>
                </c:pt>
                <c:pt idx="4">
                  <c:v>126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799-4CD5-AC8D-9600319BF5EE}"/>
            </c:ext>
          </c:extLst>
        </c:ser>
        <c:ser>
          <c:idx val="2"/>
          <c:order val="2"/>
          <c:tx>
            <c:strRef>
              <c:f>Foglio1!$D$1</c:f>
              <c:strCache>
                <c:ptCount val="1"/>
                <c:pt idx="0">
                  <c:v>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strRef>
              <c:f>Foglio1!$A$2:$A$6</c:f>
              <c:strCache>
                <c:ptCount val="5"/>
                <c:pt idx="0">
                  <c:v>Febbraio</c:v>
                </c:pt>
                <c:pt idx="1">
                  <c:v>Marzo</c:v>
                </c:pt>
                <c:pt idx="2">
                  <c:v>Aprile</c:v>
                </c:pt>
                <c:pt idx="3">
                  <c:v>Maggio</c:v>
                </c:pt>
                <c:pt idx="4">
                  <c:v>Giugno</c:v>
                </c:pt>
              </c:strCache>
            </c:strRef>
          </c:cat>
          <c:val>
            <c:numRef>
              <c:f>Foglio1!$D$2:$D$6</c:f>
              <c:numCache>
                <c:formatCode>General</c:formatCode>
                <c:ptCount val="5"/>
                <c:pt idx="0">
                  <c:v>130</c:v>
                </c:pt>
                <c:pt idx="1">
                  <c:v>130</c:v>
                </c:pt>
                <c:pt idx="2">
                  <c:v>130</c:v>
                </c:pt>
                <c:pt idx="3">
                  <c:v>130</c:v>
                </c:pt>
                <c:pt idx="4">
                  <c:v>130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B799-4CD5-AC8D-9600319BF5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28819136"/>
        <c:axId val="1428809984"/>
      </c:lineChart>
      <c:catAx>
        <c:axId val="1428819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28809984"/>
        <c:crosses val="autoZero"/>
        <c:auto val="1"/>
        <c:lblAlgn val="ctr"/>
        <c:lblOffset val="100"/>
        <c:noMultiLvlLbl val="0"/>
      </c:catAx>
      <c:valAx>
        <c:axId val="1428809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28819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it-IT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rgbClr val="FF0000"/>
                </a:solidFill>
                <a:highlight>
                  <a:srgbClr val="FFFF00"/>
                </a:highlight>
                <a:latin typeface="+mn-lt"/>
                <a:ea typeface="+mn-ea"/>
                <a:cs typeface="+mn-cs"/>
              </a:defRPr>
            </a:pPr>
            <a:r>
              <a:rPr lang="it-IT" baseline="0" dirty="0">
                <a:solidFill>
                  <a:srgbClr val="FF0000"/>
                </a:solidFill>
                <a:highlight>
                  <a:srgbClr val="FFFF00"/>
                </a:highlight>
              </a:rPr>
              <a:t>Ore Assemblaggio - Saldatura</a:t>
            </a:r>
            <a:endParaRPr lang="it-IT" dirty="0">
              <a:solidFill>
                <a:srgbClr val="FF0000"/>
              </a:solidFill>
              <a:highlight>
                <a:srgbClr val="FFFF00"/>
              </a:highlight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rgbClr val="FF0000"/>
              </a:solidFill>
              <a:highlight>
                <a:srgbClr val="FFFF00"/>
              </a:highlight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Foglio1!$B$1</c:f>
              <c:strCache>
                <c:ptCount val="1"/>
                <c:pt idx="0">
                  <c:v>Assemblaggio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2.3656538125042023E-2"/>
                  <c:y val="5.688785952917122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1B6-43A4-A872-78217E773E85}"/>
                </c:ext>
              </c:extLst>
            </c:dLbl>
            <c:dLbl>
              <c:idx val="2"/>
              <c:layout>
                <c:manualLayout>
                  <c:x val="-2.0451409919913857E-2"/>
                  <c:y val="7.262987394303056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E1B6-43A4-A872-78217E773E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Febbraio</c:v>
                </c:pt>
                <c:pt idx="1">
                  <c:v>Marzo</c:v>
                </c:pt>
                <c:pt idx="2">
                  <c:v>Aprile</c:v>
                </c:pt>
                <c:pt idx="3">
                  <c:v>Maggio</c:v>
                </c:pt>
                <c:pt idx="4">
                  <c:v>Giugno</c:v>
                </c:pt>
              </c:strCache>
            </c:strRef>
          </c:cat>
          <c:val>
            <c:numRef>
              <c:f>Foglio1!$B$2:$B$6</c:f>
              <c:numCache>
                <c:formatCode>General</c:formatCode>
                <c:ptCount val="5"/>
                <c:pt idx="0">
                  <c:v>523</c:v>
                </c:pt>
                <c:pt idx="1">
                  <c:v>529</c:v>
                </c:pt>
                <c:pt idx="2">
                  <c:v>336</c:v>
                </c:pt>
                <c:pt idx="3">
                  <c:v>268</c:v>
                </c:pt>
                <c:pt idx="4">
                  <c:v>405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1B6-43A4-A872-78217E773E85}"/>
            </c:ext>
          </c:extLst>
        </c:ser>
        <c:ser>
          <c:idx val="1"/>
          <c:order val="1"/>
          <c:tx>
            <c:strRef>
              <c:f>Foglio1!$C$1</c:f>
              <c:strCache>
                <c:ptCount val="1"/>
                <c:pt idx="0">
                  <c:v>Saldatura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1"/>
              <c:layout>
                <c:manualLayout>
                  <c:x val="-1.9383033851537751E-2"/>
                  <c:y val="-0.12414530623021208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E1B6-43A4-A872-78217E773E8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Foglio1!$A$2:$A$6</c:f>
              <c:strCache>
                <c:ptCount val="5"/>
                <c:pt idx="0">
                  <c:v>Febbraio</c:v>
                </c:pt>
                <c:pt idx="1">
                  <c:v>Marzo</c:v>
                </c:pt>
                <c:pt idx="2">
                  <c:v>Aprile</c:v>
                </c:pt>
                <c:pt idx="3">
                  <c:v>Maggio</c:v>
                </c:pt>
                <c:pt idx="4">
                  <c:v>Giugno</c:v>
                </c:pt>
              </c:strCache>
            </c:strRef>
          </c:cat>
          <c:val>
            <c:numRef>
              <c:f>Foglio1!$C$2:$C$6</c:f>
              <c:numCache>
                <c:formatCode>General</c:formatCode>
                <c:ptCount val="5"/>
                <c:pt idx="0">
                  <c:v>992</c:v>
                </c:pt>
                <c:pt idx="1">
                  <c:v>565</c:v>
                </c:pt>
                <c:pt idx="2">
                  <c:v>415</c:v>
                </c:pt>
                <c:pt idx="3">
                  <c:v>499</c:v>
                </c:pt>
                <c:pt idx="4">
                  <c:v>591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1B6-43A4-A872-78217E773E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428819136"/>
        <c:axId val="1428809984"/>
      </c:lineChart>
      <c:catAx>
        <c:axId val="1428819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28809984"/>
        <c:crosses val="autoZero"/>
        <c:auto val="1"/>
        <c:lblAlgn val="ctr"/>
        <c:lblOffset val="100"/>
        <c:noMultiLvlLbl val="0"/>
      </c:catAx>
      <c:valAx>
        <c:axId val="14288099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  <c:crossAx val="1428819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50444" y="0"/>
            <a:ext cx="2945659" cy="498056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35C5330E-7138-4EF4-8C38-6B19A57246F3}" type="datetimeFigureOut">
              <a:rPr lang="it-IT" smtClean="0"/>
              <a:t>07/07/2026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33" tIns="45717" rIns="91433" bIns="45717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50444" y="9428584"/>
            <a:ext cx="2945659" cy="498055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3A71E32F-1C92-47A6-8608-34B12C8A3ED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44881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14330">
              <a:defRPr/>
            </a:pPr>
            <a:fld id="{1C936AEB-6B37-429C-8D2D-AD1134CD724B}" type="slidenum">
              <a:rPr lang="it-IT">
                <a:solidFill>
                  <a:prstClr val="black"/>
                </a:solidFill>
                <a:latin typeface="Calibri" panose="020F0502020204030204"/>
              </a:rPr>
              <a:pPr defTabSz="914330">
                <a:defRPr/>
              </a:pPr>
              <a:t>1</a:t>
            </a:fld>
            <a:endParaRPr lang="it-IT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917662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4369FB-EE47-4AA2-84C0-A01CC94A1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C9543C6-DC72-489B-A2A8-9B09F9010E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4375C5F-D65B-4AD7-9BFB-58D4F0734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A836-5F20-4A8D-BDDC-691E55F3A3C6}" type="datetimeFigureOut">
              <a:rPr lang="it-IT" smtClean="0"/>
              <a:t>07/07/2026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2F41179-8CDD-45A9-B089-BD95063D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646F9E-4CA9-4E4A-9F3B-EC51EB828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CFD-22D5-49EB-A9FF-A85CC5A4D6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1780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7458D2-DDF3-4434-BFD0-DB94F7591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F2A6933-A887-481B-9629-C6EA2F83C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7A353F7-DF04-4867-B6A0-D597FDF55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A836-5F20-4A8D-BDDC-691E55F3A3C6}" type="datetimeFigureOut">
              <a:rPr lang="it-IT" smtClean="0"/>
              <a:t>07/07/2026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480329E-25FE-49F4-8E13-1B5CA4F7A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59BC52C-3207-43CA-A8E8-056304407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CFD-22D5-49EB-A9FF-A85CC5A4D6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8067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7A64A8-D9AD-4C02-A76F-36B18B348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9ED7DBF-F79A-4469-9D80-043E5B44B8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DE4D517-2B99-484C-93E9-67C161341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A836-5F20-4A8D-BDDC-691E55F3A3C6}" type="datetimeFigureOut">
              <a:rPr lang="it-IT" smtClean="0"/>
              <a:t>07/07/2026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B0D3A19-F1FB-4C2E-914A-C55129BB5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9EF5F97-802A-4549-9ADA-5CD787629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CFD-22D5-49EB-A9FF-A85CC5A4D6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91374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C6461B-7E4B-4913-A9A2-3E0C69A8A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FB087C-92E8-4BD2-AD85-F093CE6E66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A1DC5ED-B528-410A-BDD3-9FECCA651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F4852A5-E137-4A3D-9D0A-0754D7E89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A836-5F20-4A8D-BDDC-691E55F3A3C6}" type="datetimeFigureOut">
              <a:rPr lang="it-IT" smtClean="0"/>
              <a:t>07/07/2026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35BD680-F8EB-4FFC-A0C0-2A0F9FCA6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B558081-0790-45BA-B851-9F23E330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CFD-22D5-49EB-A9FF-A85CC5A4D6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14100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5B1B11E-3FEC-4E60-99CE-D6E3EE73A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6AFD0B7-9FEE-4D65-B0C6-AAA23BCC5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40C2617-4158-4FB6-AE3B-BA72C2A6FE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0B78F1F-52F7-4F8E-8F50-5F5C92596E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947AE6AD-BD7B-472C-B4DE-95411535A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72B17DD5-AC97-415B-BA2A-EB8C98A56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A836-5F20-4A8D-BDDC-691E55F3A3C6}" type="datetimeFigureOut">
              <a:rPr lang="it-IT" smtClean="0"/>
              <a:t>07/07/2026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D02F0FEB-9728-450F-9824-D2CE29327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27E2351A-627A-449B-9A66-09219F026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CFD-22D5-49EB-A9FF-A85CC5A4D6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26905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A94CDB6-5362-4A7F-8F2D-77B4094C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E8306753-8E52-4EE5-A9D2-48F4B475D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A836-5F20-4A8D-BDDC-691E55F3A3C6}" type="datetimeFigureOut">
              <a:rPr lang="it-IT" smtClean="0"/>
              <a:t>07/07/2026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D487A29-6547-4C50-BD7D-907214D53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E0FD8F9-9C16-4C1B-8CE5-DF9D258AC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CFD-22D5-49EB-A9FF-A85CC5A4D6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00785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002A48A-B3EA-4CD9-8BCA-EC25D3CC1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A836-5F20-4A8D-BDDC-691E55F3A3C6}" type="datetimeFigureOut">
              <a:rPr lang="it-IT" smtClean="0"/>
              <a:t>07/07/2026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8DADE2B-6754-41C1-A6CB-778CF1B4A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0AF3B4B-6BC0-4C66-B50A-56514FC3C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CFD-22D5-49EB-A9FF-A85CC5A4D6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77081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565D88-438F-4D04-B2FF-52003B45C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1FFCB44-8E1E-4B65-9B0F-45E91CF20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F4FD646-0980-456A-A74E-5FB120FB6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FF48485-914D-4341-9D02-CD2FBBAA6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A836-5F20-4A8D-BDDC-691E55F3A3C6}" type="datetimeFigureOut">
              <a:rPr lang="it-IT" smtClean="0"/>
              <a:t>07/07/2026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EE6D73E-F38D-4AC5-92B5-E49A88D4E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BF4385B-1EC1-4D1F-B907-E9E2A86DF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CFD-22D5-49EB-A9FF-A85CC5A4D6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1951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A238ED2-2EE7-4FED-8CBB-8E366CCD9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BA56A5E-8F88-40FA-AF3E-79AB2ED55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2C01C01-E670-482D-9EB9-9CD751664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9FEE890-FE9B-4A9E-9A9F-8B05F0EF3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A836-5F20-4A8D-BDDC-691E55F3A3C6}" type="datetimeFigureOut">
              <a:rPr lang="it-IT" smtClean="0"/>
              <a:t>07/07/2026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F2E043C-8A15-4A08-A4FE-CF4B371B6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85DE180-C5FA-430A-9342-6BB670F53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CFD-22D5-49EB-A9FF-A85CC5A4D6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66819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580139B-F255-4E47-9A6C-7C407201D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79656CB-CCBB-44A2-8858-8646A68792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F6CDBE6-E320-4D04-88CA-90B078A12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A836-5F20-4A8D-BDDC-691E55F3A3C6}" type="datetimeFigureOut">
              <a:rPr lang="it-IT" smtClean="0"/>
              <a:t>07/07/2026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CA22896-BA83-4F62-87B8-F59FB74C3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E192840-8775-4EFB-AC7A-2A377AF3D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CFD-22D5-49EB-A9FF-A85CC5A4D6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672109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6F898076-7C5E-4328-BA7A-1D06CF49B8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D8BD6A9-6F48-4EF8-8BEA-860EFDD4E0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62D205-C07C-4C9A-A5E6-5C359C2C4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A836-5F20-4A8D-BDDC-691E55F3A3C6}" type="datetimeFigureOut">
              <a:rPr lang="it-IT" smtClean="0"/>
              <a:t>07/07/2026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39FAD75-E695-4C9A-821A-FE99D5927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4E97CB7-4546-48B2-B927-E4F67242E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A4CFD-22D5-49EB-A9FF-A85CC5A4D6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6103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9A72B54-0086-49EF-B8EA-796E9F506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EA6186F-EB35-4253-A8C2-08CB406B7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A285CA3-13D9-42EA-BB86-80853F3775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A836-5F20-4A8D-BDDC-691E55F3A3C6}" type="datetimeFigureOut">
              <a:rPr lang="it-IT" smtClean="0"/>
              <a:t>07/07/2026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0F5037F-3C5D-48B4-99A1-B5AE31D97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306B561-512E-4756-867E-20730F612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A4CFD-22D5-49EB-A9FF-A85CC5A4D63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73615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C3BA9E-6B0E-8973-09F0-200957F60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C78D93C4-C2DA-3E7B-671C-202C850AAE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0" y="3092127"/>
            <a:ext cx="7791450" cy="437197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BCAA0F2-0413-5422-E18B-7BDBFB3B71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" b="-13878"/>
          <a:stretch>
            <a:fillRect/>
          </a:stretch>
        </p:blipFill>
        <p:spPr>
          <a:xfrm>
            <a:off x="9736481" y="5738203"/>
            <a:ext cx="2328273" cy="1119797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AEC0433C-4EF9-BCFA-E9A3-6621D208E6B7}"/>
              </a:ext>
            </a:extLst>
          </p:cNvPr>
          <p:cNvSpPr txBox="1"/>
          <p:nvPr/>
        </p:nvSpPr>
        <p:spPr>
          <a:xfrm>
            <a:off x="3356823" y="2849732"/>
            <a:ext cx="53354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it-IT" sz="2800" b="0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ANALISI</a:t>
            </a: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it-IT" sz="2800" i="1" dirty="0">
                <a:solidFill>
                  <a:srgbClr val="0070C0"/>
                </a:solidFill>
                <a:latin typeface="Calibri" panose="020F0502020204030204"/>
              </a:rPr>
              <a:t>PRODUZIONE</a:t>
            </a:r>
            <a:endParaRPr kumimoji="0" lang="it-IT" sz="2800" b="0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it-IT" sz="2800" b="1" i="1" dirty="0">
                <a:solidFill>
                  <a:srgbClr val="0070C0"/>
                </a:solidFill>
                <a:latin typeface="Calibri" panose="020F0502020204030204"/>
              </a:rPr>
              <a:t>2026</a:t>
            </a:r>
            <a:endParaRPr kumimoji="0" lang="it-IT" b="1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1643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0DEBEA43-B1C1-415E-93C9-0A40032E0C31}"/>
              </a:ext>
            </a:extLst>
          </p:cNvPr>
          <p:cNvSpPr txBox="1"/>
          <p:nvPr/>
        </p:nvSpPr>
        <p:spPr>
          <a:xfrm>
            <a:off x="4475825" y="124288"/>
            <a:ext cx="324035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FEBBRAIO: TUTTE LE COMMESSE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D2B83B3B-2C82-4644-94CA-EDEC84D04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1628" y="493620"/>
            <a:ext cx="3497443" cy="277336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697DA751-6ACC-4DC9-8CD0-695A4B09ED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95" y="4095456"/>
            <a:ext cx="4572396" cy="2371550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90254A53-1C39-4F16-A262-E90F33F9A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94" y="433794"/>
            <a:ext cx="8029128" cy="3273836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59104434-D76B-4CE3-8E48-9D4F22166375}"/>
              </a:ext>
            </a:extLst>
          </p:cNvPr>
          <p:cNvSpPr txBox="1"/>
          <p:nvPr/>
        </p:nvSpPr>
        <p:spPr>
          <a:xfrm>
            <a:off x="6096000" y="3429000"/>
            <a:ext cx="59854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Calcolando le ore impiegate sul totale delle commesse lavorate il rapporto assemblaggio / saldatura è 1:2 circa.</a:t>
            </a:r>
          </a:p>
          <a:p>
            <a:r>
              <a:rPr lang="it-IT" dirty="0">
                <a:solidFill>
                  <a:srgbClr val="0070C0"/>
                </a:solidFill>
              </a:rPr>
              <a:t>Considerando 3 assemblatori, il bilanciamento produttivo richiede 6 saldatori.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Applicando la stessa logica al peso unitario lavorato, il rapporto diventa 1:1,5 circa.</a:t>
            </a:r>
          </a:p>
          <a:p>
            <a:r>
              <a:rPr lang="it-IT" dirty="0">
                <a:solidFill>
                  <a:srgbClr val="0070C0"/>
                </a:solidFill>
              </a:rPr>
              <a:t>Considerando 3 assemblatori, il bilanciamento produttivo richiede 5 saldatori.</a:t>
            </a:r>
          </a:p>
          <a:p>
            <a:endParaRPr lang="it-IT" dirty="0">
              <a:solidFill>
                <a:srgbClr val="0070C0"/>
              </a:solidFill>
            </a:endParaRPr>
          </a:p>
          <a:p>
            <a:endParaRPr lang="it-IT" dirty="0"/>
          </a:p>
          <a:p>
            <a:endParaRPr lang="it-IT" dirty="0">
              <a:solidFill>
                <a:srgbClr val="0070C0"/>
              </a:solidFill>
            </a:endParaRPr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6E4498D4-7206-41B8-BA5A-8097FD6C39AE}"/>
              </a:ext>
            </a:extLst>
          </p:cNvPr>
          <p:cNvSpPr/>
          <p:nvPr/>
        </p:nvSpPr>
        <p:spPr>
          <a:xfrm>
            <a:off x="11603115" y="6365289"/>
            <a:ext cx="265956" cy="2752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1806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C549542-575D-4A66-A100-6EDE2EB055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33" y="554263"/>
            <a:ext cx="3779520" cy="5715000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E6BA999-5B75-44A3-B51E-175063CF2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000" y="554263"/>
            <a:ext cx="3810000" cy="313944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6C6706F7-BB3A-4E76-9AB5-567367ECDB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947" y="554263"/>
            <a:ext cx="3810000" cy="2773680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C7D64903-1FE2-4844-A651-774B89A1E5DE}"/>
              </a:ext>
            </a:extLst>
          </p:cNvPr>
          <p:cNvSpPr txBox="1"/>
          <p:nvPr/>
        </p:nvSpPr>
        <p:spPr>
          <a:xfrm>
            <a:off x="4166808" y="3840459"/>
            <a:ext cx="76074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Trattate 28 commesse</a:t>
            </a:r>
          </a:p>
          <a:p>
            <a:r>
              <a:rPr lang="it-IT" dirty="0">
                <a:solidFill>
                  <a:srgbClr val="0070C0"/>
                </a:solidFill>
              </a:rPr>
              <a:t>Prime 2 per pesi movimentati (93%) </a:t>
            </a:r>
            <a:r>
              <a:rPr lang="it-IT" dirty="0" err="1">
                <a:solidFill>
                  <a:srgbClr val="0070C0"/>
                </a:solidFill>
              </a:rPr>
              <a:t>Svedil</a:t>
            </a:r>
            <a:r>
              <a:rPr lang="it-IT" dirty="0">
                <a:solidFill>
                  <a:srgbClr val="0070C0"/>
                </a:solidFill>
              </a:rPr>
              <a:t> pensilina e </a:t>
            </a:r>
            <a:r>
              <a:rPr lang="it-IT" dirty="0" err="1">
                <a:solidFill>
                  <a:srgbClr val="0070C0"/>
                </a:solidFill>
              </a:rPr>
              <a:t>Euros</a:t>
            </a:r>
            <a:r>
              <a:rPr lang="it-IT" dirty="0">
                <a:solidFill>
                  <a:srgbClr val="0070C0"/>
                </a:solidFill>
              </a:rPr>
              <a:t> Pali</a:t>
            </a:r>
          </a:p>
          <a:p>
            <a:r>
              <a:rPr lang="it-IT" dirty="0">
                <a:solidFill>
                  <a:srgbClr val="0070C0"/>
                </a:solidFill>
              </a:rPr>
              <a:t>Prime 2 per pesi assemblati (96%) </a:t>
            </a:r>
            <a:r>
              <a:rPr lang="it-IT" dirty="0" err="1">
                <a:solidFill>
                  <a:srgbClr val="0070C0"/>
                </a:solidFill>
              </a:rPr>
              <a:t>Svedil</a:t>
            </a:r>
            <a:r>
              <a:rPr lang="it-IT" dirty="0">
                <a:solidFill>
                  <a:srgbClr val="0070C0"/>
                </a:solidFill>
              </a:rPr>
              <a:t> pensilina e tettoia SACPO</a:t>
            </a:r>
          </a:p>
          <a:p>
            <a:r>
              <a:rPr lang="it-IT" dirty="0">
                <a:solidFill>
                  <a:srgbClr val="0070C0"/>
                </a:solidFill>
              </a:rPr>
              <a:t>Prime 2 per pesi saldati (98%) </a:t>
            </a:r>
            <a:r>
              <a:rPr lang="it-IT" dirty="0" err="1">
                <a:solidFill>
                  <a:srgbClr val="0070C0"/>
                </a:solidFill>
              </a:rPr>
              <a:t>Svedil</a:t>
            </a:r>
            <a:r>
              <a:rPr lang="it-IT" dirty="0">
                <a:solidFill>
                  <a:srgbClr val="0070C0"/>
                </a:solidFill>
              </a:rPr>
              <a:t> pensilina e </a:t>
            </a:r>
            <a:r>
              <a:rPr lang="it-IT" dirty="0" err="1">
                <a:solidFill>
                  <a:srgbClr val="0070C0"/>
                </a:solidFill>
              </a:rPr>
              <a:t>Euros</a:t>
            </a:r>
            <a:r>
              <a:rPr lang="it-IT" dirty="0">
                <a:solidFill>
                  <a:srgbClr val="0070C0"/>
                </a:solidFill>
              </a:rPr>
              <a:t> Pali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965AA9AD-300F-47D0-B1C0-B647597780B0}"/>
              </a:ext>
            </a:extLst>
          </p:cNvPr>
          <p:cNvSpPr txBox="1"/>
          <p:nvPr/>
        </p:nvSpPr>
        <p:spPr>
          <a:xfrm>
            <a:off x="4751772" y="111553"/>
            <a:ext cx="2688455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FEBBRAIO: DEPLOYMENT</a:t>
            </a:r>
          </a:p>
        </p:txBody>
      </p:sp>
    </p:spTree>
    <p:extLst>
      <p:ext uri="{BB962C8B-B14F-4D97-AF65-F5344CB8AC3E}">
        <p14:creationId xmlns:p14="http://schemas.microsoft.com/office/powerpoint/2010/main" val="26560525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0DEBEA43-B1C1-415E-93C9-0A40032E0C31}"/>
              </a:ext>
            </a:extLst>
          </p:cNvPr>
          <p:cNvSpPr txBox="1"/>
          <p:nvPr/>
        </p:nvSpPr>
        <p:spPr>
          <a:xfrm>
            <a:off x="4475825" y="124288"/>
            <a:ext cx="324035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MARZO: TUTTE LE COMMESSE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59104434-D76B-4CE3-8E48-9D4F22166375}"/>
              </a:ext>
            </a:extLst>
          </p:cNvPr>
          <p:cNvSpPr txBox="1"/>
          <p:nvPr/>
        </p:nvSpPr>
        <p:spPr>
          <a:xfrm>
            <a:off x="6096000" y="3429000"/>
            <a:ext cx="598540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Calcolando le ore impiegate sul totale delle commesse lavorate il rapporto assemblaggio / saldatura è 1:1 circa.</a:t>
            </a:r>
          </a:p>
          <a:p>
            <a:r>
              <a:rPr lang="it-IT" dirty="0">
                <a:solidFill>
                  <a:srgbClr val="0070C0"/>
                </a:solidFill>
              </a:rPr>
              <a:t>Considerando 3 assemblatori, il bilanciamento produttivo richiede 3 saldatori.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Applicando la stessa logica al peso unitario lavorato, il rapporto diventa 1:1,4 circa.</a:t>
            </a:r>
          </a:p>
          <a:p>
            <a:r>
              <a:rPr lang="it-IT" dirty="0">
                <a:solidFill>
                  <a:srgbClr val="0070C0"/>
                </a:solidFill>
              </a:rPr>
              <a:t>Considerando 3 assemblatori, il bilanciamento produttivo richiede 4 saldatori.</a:t>
            </a:r>
          </a:p>
          <a:p>
            <a:endParaRPr lang="it-IT" dirty="0">
              <a:solidFill>
                <a:srgbClr val="0070C0"/>
              </a:solidFill>
            </a:endParaRPr>
          </a:p>
          <a:p>
            <a:endParaRPr lang="it-IT" dirty="0"/>
          </a:p>
          <a:p>
            <a:endParaRPr lang="it-IT" dirty="0">
              <a:solidFill>
                <a:srgbClr val="0070C0"/>
              </a:solidFill>
            </a:endParaRPr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6E4498D4-7206-41B8-BA5A-8097FD6C39AE}"/>
              </a:ext>
            </a:extLst>
          </p:cNvPr>
          <p:cNvSpPr/>
          <p:nvPr/>
        </p:nvSpPr>
        <p:spPr>
          <a:xfrm>
            <a:off x="11603115" y="6365289"/>
            <a:ext cx="265956" cy="2752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97145BAD-DC44-40A4-9042-136E0E186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94" y="390994"/>
            <a:ext cx="8023031" cy="3304318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11951DCB-1D50-437F-9195-F1E14BA43E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3625" y="555991"/>
            <a:ext cx="3127519" cy="2481287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13102337-4430-4C4C-8B2F-503D841F6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713" y="4244561"/>
            <a:ext cx="4572396" cy="239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1067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C7D64903-1FE2-4844-A651-774B89A1E5DE}"/>
              </a:ext>
            </a:extLst>
          </p:cNvPr>
          <p:cNvSpPr txBox="1"/>
          <p:nvPr/>
        </p:nvSpPr>
        <p:spPr>
          <a:xfrm>
            <a:off x="4166808" y="3964748"/>
            <a:ext cx="77026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Trattate 21 commesse</a:t>
            </a:r>
          </a:p>
          <a:p>
            <a:r>
              <a:rPr lang="it-IT" dirty="0">
                <a:solidFill>
                  <a:srgbClr val="0070C0"/>
                </a:solidFill>
              </a:rPr>
              <a:t>Prime 4 per pesi movimentati (88%) </a:t>
            </a:r>
            <a:r>
              <a:rPr lang="it-IT" dirty="0" err="1">
                <a:solidFill>
                  <a:srgbClr val="0070C0"/>
                </a:solidFill>
              </a:rPr>
              <a:t>Euros</a:t>
            </a:r>
            <a:r>
              <a:rPr lang="it-IT" dirty="0">
                <a:solidFill>
                  <a:srgbClr val="0070C0"/>
                </a:solidFill>
              </a:rPr>
              <a:t> Pali, </a:t>
            </a:r>
            <a:r>
              <a:rPr lang="it-IT" dirty="0" err="1">
                <a:solidFill>
                  <a:srgbClr val="0070C0"/>
                </a:solidFill>
              </a:rPr>
              <a:t>Svedil</a:t>
            </a:r>
            <a:r>
              <a:rPr lang="it-IT" dirty="0">
                <a:solidFill>
                  <a:srgbClr val="0070C0"/>
                </a:solidFill>
              </a:rPr>
              <a:t> Tocco, </a:t>
            </a:r>
            <a:r>
              <a:rPr lang="it-IT" dirty="0" err="1">
                <a:solidFill>
                  <a:srgbClr val="0070C0"/>
                </a:solidFill>
              </a:rPr>
              <a:t>Covalpa</a:t>
            </a:r>
            <a:r>
              <a:rPr lang="it-IT" dirty="0">
                <a:solidFill>
                  <a:srgbClr val="0070C0"/>
                </a:solidFill>
              </a:rPr>
              <a:t> 2, </a:t>
            </a:r>
            <a:r>
              <a:rPr lang="it-IT" dirty="0" err="1">
                <a:solidFill>
                  <a:srgbClr val="0070C0"/>
                </a:solidFill>
              </a:rPr>
              <a:t>Svedil</a:t>
            </a:r>
            <a:r>
              <a:rPr lang="it-IT" dirty="0">
                <a:solidFill>
                  <a:srgbClr val="0070C0"/>
                </a:solidFill>
              </a:rPr>
              <a:t> AQ</a:t>
            </a:r>
          </a:p>
          <a:p>
            <a:r>
              <a:rPr lang="it-IT" dirty="0">
                <a:solidFill>
                  <a:srgbClr val="0070C0"/>
                </a:solidFill>
              </a:rPr>
              <a:t>Prime 3 per pesi assemblati (81%) </a:t>
            </a:r>
            <a:r>
              <a:rPr lang="it-IT" dirty="0" err="1">
                <a:solidFill>
                  <a:srgbClr val="0070C0"/>
                </a:solidFill>
              </a:rPr>
              <a:t>Euros</a:t>
            </a:r>
            <a:r>
              <a:rPr lang="it-IT" dirty="0">
                <a:solidFill>
                  <a:srgbClr val="0070C0"/>
                </a:solidFill>
              </a:rPr>
              <a:t> Pali, </a:t>
            </a:r>
            <a:r>
              <a:rPr lang="it-IT" dirty="0" err="1">
                <a:solidFill>
                  <a:srgbClr val="0070C0"/>
                </a:solidFill>
              </a:rPr>
              <a:t>Svedil</a:t>
            </a:r>
            <a:r>
              <a:rPr lang="it-IT" dirty="0">
                <a:solidFill>
                  <a:srgbClr val="0070C0"/>
                </a:solidFill>
              </a:rPr>
              <a:t> Tocco, </a:t>
            </a:r>
            <a:r>
              <a:rPr lang="it-IT" dirty="0" err="1">
                <a:solidFill>
                  <a:srgbClr val="0070C0"/>
                </a:solidFill>
              </a:rPr>
              <a:t>Covalpa</a:t>
            </a:r>
            <a:r>
              <a:rPr lang="it-IT" dirty="0">
                <a:solidFill>
                  <a:srgbClr val="0070C0"/>
                </a:solidFill>
              </a:rPr>
              <a:t> 2</a:t>
            </a:r>
          </a:p>
          <a:p>
            <a:r>
              <a:rPr lang="it-IT" dirty="0">
                <a:solidFill>
                  <a:srgbClr val="0070C0"/>
                </a:solidFill>
              </a:rPr>
              <a:t>Prime 2 per pesi saldati (98%) </a:t>
            </a:r>
            <a:r>
              <a:rPr lang="it-IT" dirty="0" err="1">
                <a:solidFill>
                  <a:srgbClr val="0070C0"/>
                </a:solidFill>
              </a:rPr>
              <a:t>Euros</a:t>
            </a:r>
            <a:r>
              <a:rPr lang="it-IT" dirty="0">
                <a:solidFill>
                  <a:srgbClr val="0070C0"/>
                </a:solidFill>
              </a:rPr>
              <a:t> Pali, </a:t>
            </a:r>
            <a:r>
              <a:rPr lang="it-IT" dirty="0" err="1">
                <a:solidFill>
                  <a:srgbClr val="0070C0"/>
                </a:solidFill>
              </a:rPr>
              <a:t>Svedil</a:t>
            </a:r>
            <a:r>
              <a:rPr lang="it-IT" dirty="0">
                <a:solidFill>
                  <a:srgbClr val="0070C0"/>
                </a:solidFill>
              </a:rPr>
              <a:t> AQ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5BCA36F-B602-4547-9EC4-7834E7BA7E48}"/>
              </a:ext>
            </a:extLst>
          </p:cNvPr>
          <p:cNvSpPr txBox="1"/>
          <p:nvPr/>
        </p:nvSpPr>
        <p:spPr>
          <a:xfrm>
            <a:off x="4929695" y="43205"/>
            <a:ext cx="233260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it-IT" dirty="0"/>
              <a:t>MARZO: DEPLOYMENT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84EAE4C1-AB19-4827-A264-59ACDB409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48" y="509876"/>
            <a:ext cx="4137660" cy="443484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E119192-7F53-45CE-BFED-CB7A0DA0C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808" y="509876"/>
            <a:ext cx="4244340" cy="3139440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BE2367CC-8755-4279-B1B9-7D4C05EC18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1148" y="509876"/>
            <a:ext cx="3780103" cy="2144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744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0DEBEA43-B1C1-415E-93C9-0A40032E0C31}"/>
              </a:ext>
            </a:extLst>
          </p:cNvPr>
          <p:cNvSpPr txBox="1"/>
          <p:nvPr/>
        </p:nvSpPr>
        <p:spPr>
          <a:xfrm>
            <a:off x="4475825" y="124288"/>
            <a:ext cx="324035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APRILE: TUTTE LE COMMESSE</a:t>
            </a:r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6E4498D4-7206-41B8-BA5A-8097FD6C39AE}"/>
              </a:ext>
            </a:extLst>
          </p:cNvPr>
          <p:cNvSpPr/>
          <p:nvPr/>
        </p:nvSpPr>
        <p:spPr>
          <a:xfrm>
            <a:off x="11603115" y="6365289"/>
            <a:ext cx="265956" cy="2752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A3739B55-D3D7-4715-888B-EE4E0F465A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89" y="619199"/>
            <a:ext cx="8622901" cy="3139321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585B917E-2092-4F15-8DB2-1F47F5E9F6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1692" y="720212"/>
            <a:ext cx="3121423" cy="2481287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1D4F2209-11D5-42C9-87AE-A0087CE09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501" y="4172385"/>
            <a:ext cx="4566300" cy="239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998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C7D64903-1FE2-4844-A651-774B89A1E5DE}"/>
              </a:ext>
            </a:extLst>
          </p:cNvPr>
          <p:cNvSpPr txBox="1"/>
          <p:nvPr/>
        </p:nvSpPr>
        <p:spPr>
          <a:xfrm>
            <a:off x="8313359" y="772397"/>
            <a:ext cx="380554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Trattate 22 commesse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Prime 3 per pesi movimentati (87%)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Euros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Pali, </a:t>
            </a:r>
            <a:r>
              <a:rPr lang="it-IT" dirty="0" err="1">
                <a:solidFill>
                  <a:srgbClr val="0070C0"/>
                </a:solidFill>
                <a:latin typeface="Calibri" panose="020F0502020204030204"/>
              </a:rPr>
              <a:t>Tondonato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Restedile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Camerino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5BCA36F-B602-4547-9EC4-7834E7BA7E48}"/>
              </a:ext>
            </a:extLst>
          </p:cNvPr>
          <p:cNvSpPr txBox="1"/>
          <p:nvPr/>
        </p:nvSpPr>
        <p:spPr>
          <a:xfrm>
            <a:off x="4929695" y="43205"/>
            <a:ext cx="233260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>
                <a:solidFill>
                  <a:prstClr val="black"/>
                </a:solidFill>
                <a:latin typeface="Calibri" panose="020F0502020204030204"/>
              </a:rPr>
              <a:t>APRILE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DEPLOYMENT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AC2E7890-EEF1-4752-B7A3-2F8E0A944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647" y="1270356"/>
            <a:ext cx="7885158" cy="431728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7D2FAD20-324C-4CD2-A92F-4E99E27A8CED}"/>
              </a:ext>
            </a:extLst>
          </p:cNvPr>
          <p:cNvSpPr txBox="1"/>
          <p:nvPr/>
        </p:nvSpPr>
        <p:spPr>
          <a:xfrm>
            <a:off x="1988598" y="772397"/>
            <a:ext cx="545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TUTTE LE COMMESSE – TOTALE MOVIMENTATI</a:t>
            </a:r>
          </a:p>
        </p:txBody>
      </p:sp>
    </p:spTree>
    <p:extLst>
      <p:ext uri="{BB962C8B-B14F-4D97-AF65-F5344CB8AC3E}">
        <p14:creationId xmlns:p14="http://schemas.microsoft.com/office/powerpoint/2010/main" val="1900083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0DEBEA43-B1C1-415E-93C9-0A40032E0C31}"/>
              </a:ext>
            </a:extLst>
          </p:cNvPr>
          <p:cNvSpPr txBox="1"/>
          <p:nvPr/>
        </p:nvSpPr>
        <p:spPr>
          <a:xfrm>
            <a:off x="4475825" y="124288"/>
            <a:ext cx="324035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>
                <a:solidFill>
                  <a:prstClr val="black"/>
                </a:solidFill>
                <a:latin typeface="Calibri" panose="020F0502020204030204"/>
              </a:rPr>
              <a:t>MAGGIO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TUTTE LE COMMESSE</a:t>
            </a:r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6E4498D4-7206-41B8-BA5A-8097FD6C39AE}"/>
              </a:ext>
            </a:extLst>
          </p:cNvPr>
          <p:cNvSpPr/>
          <p:nvPr/>
        </p:nvSpPr>
        <p:spPr>
          <a:xfrm>
            <a:off x="11603115" y="6365289"/>
            <a:ext cx="265956" cy="2752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EED0A344-AC97-4BD1-B4D8-A1A3F04FB1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8" y="696084"/>
            <a:ext cx="8998476" cy="3273836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051CA64B-AE56-4855-ACBB-CA552A71D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7648" y="947713"/>
            <a:ext cx="3121423" cy="2481287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E2879EDC-860D-4676-9525-74596BF6E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128" y="4172384"/>
            <a:ext cx="4566300" cy="239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1737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C7D64903-1FE2-4844-A651-774B89A1E5DE}"/>
              </a:ext>
            </a:extLst>
          </p:cNvPr>
          <p:cNvSpPr txBox="1"/>
          <p:nvPr/>
        </p:nvSpPr>
        <p:spPr>
          <a:xfrm>
            <a:off x="8313359" y="772397"/>
            <a:ext cx="380554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Trattate 17 commesse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Prime 3 per pesi movimentati (84%)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Euros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(TRAVI), </a:t>
            </a:r>
            <a:r>
              <a:rPr lang="it-IT" dirty="0" err="1">
                <a:solidFill>
                  <a:srgbClr val="0070C0"/>
                </a:solidFill>
                <a:latin typeface="Calibri" panose="020F0502020204030204"/>
              </a:rPr>
              <a:t>Edilstrade</a:t>
            </a:r>
            <a:r>
              <a:rPr lang="it-IT" dirty="0">
                <a:solidFill>
                  <a:srgbClr val="0070C0"/>
                </a:solidFill>
                <a:latin typeface="Calibri" panose="020F0502020204030204"/>
              </a:rPr>
              <a:t> Ponte 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Simonella Antonella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>
              <a:solidFill>
                <a:srgbClr val="0070C0"/>
              </a:solidFill>
              <a:latin typeface="Calibri" panose="020F050202020403020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80 ore complessive imputate non a commessa (lavori da fabbro, attività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priv</a:t>
            </a:r>
            <a:r>
              <a:rPr lang="it-IT" dirty="0">
                <a:solidFill>
                  <a:srgbClr val="0070C0"/>
                </a:solidFill>
                <a:latin typeface="Calibri" panose="020F0502020204030204"/>
              </a:rPr>
              <a:t>e di disegni, attività di aggiustaggio manuale ecc. ecc.)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>
                <a:solidFill>
                  <a:srgbClr val="0070C0"/>
                </a:solidFill>
                <a:latin typeface="Calibri" panose="020F0502020204030204"/>
              </a:rPr>
              <a:t>37 ore dedicate al rinforzo delle capriate del capannone MCC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5BCA36F-B602-4547-9EC4-7834E7BA7E48}"/>
              </a:ext>
            </a:extLst>
          </p:cNvPr>
          <p:cNvSpPr txBox="1"/>
          <p:nvPr/>
        </p:nvSpPr>
        <p:spPr>
          <a:xfrm>
            <a:off x="4929695" y="43205"/>
            <a:ext cx="240326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>
                <a:solidFill>
                  <a:prstClr val="black"/>
                </a:solidFill>
                <a:latin typeface="Calibri" panose="020F0502020204030204"/>
              </a:rPr>
              <a:t>MAGGIO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DEPLOYMENT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D2FAD20-324C-4CD2-A92F-4E99E27A8CED}"/>
              </a:ext>
            </a:extLst>
          </p:cNvPr>
          <p:cNvSpPr txBox="1"/>
          <p:nvPr/>
        </p:nvSpPr>
        <p:spPr>
          <a:xfrm>
            <a:off x="1988598" y="772397"/>
            <a:ext cx="545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TUTTE LE COMMESSE – TOTALE MOVIMENTATI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D6157AA7-CBC0-4054-9779-5F715D34E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034" y="1372561"/>
            <a:ext cx="737616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681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F5BCA36F-B602-4547-9EC4-7834E7BA7E48}"/>
              </a:ext>
            </a:extLst>
          </p:cNvPr>
          <p:cNvSpPr txBox="1"/>
          <p:nvPr/>
        </p:nvSpPr>
        <p:spPr>
          <a:xfrm>
            <a:off x="4929695" y="43205"/>
            <a:ext cx="240326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>
                <a:solidFill>
                  <a:prstClr val="black"/>
                </a:solidFill>
                <a:latin typeface="Calibri" panose="020F0502020204030204"/>
              </a:rPr>
              <a:t>MAGGIO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DEPLOYMENT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7AF639E-3AED-42A1-829A-7449869BF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39" y="772397"/>
            <a:ext cx="6268138" cy="3772568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90813040-91C6-4EB9-94B1-36332DA7F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39" y="4817837"/>
            <a:ext cx="7551420" cy="166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885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0DEBEA43-B1C1-415E-93C9-0A40032E0C31}"/>
              </a:ext>
            </a:extLst>
          </p:cNvPr>
          <p:cNvSpPr txBox="1"/>
          <p:nvPr/>
        </p:nvSpPr>
        <p:spPr>
          <a:xfrm>
            <a:off x="4475825" y="124288"/>
            <a:ext cx="324035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GIUGNO: TUTTE LE COMMESSE</a:t>
            </a:r>
          </a:p>
        </p:txBody>
      </p:sp>
      <p:sp>
        <p:nvSpPr>
          <p:cNvPr id="10" name="Freccia a destra 9">
            <a:extLst>
              <a:ext uri="{FF2B5EF4-FFF2-40B4-BE49-F238E27FC236}">
                <a16:creationId xmlns:a16="http://schemas.microsoft.com/office/drawing/2014/main" id="{6E4498D4-7206-41B8-BA5A-8097FD6C39AE}"/>
              </a:ext>
            </a:extLst>
          </p:cNvPr>
          <p:cNvSpPr/>
          <p:nvPr/>
        </p:nvSpPr>
        <p:spPr>
          <a:xfrm>
            <a:off x="11603115" y="6365289"/>
            <a:ext cx="265956" cy="27520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8" name="Grafico 7">
            <a:extLst>
              <a:ext uri="{FF2B5EF4-FFF2-40B4-BE49-F238E27FC236}">
                <a16:creationId xmlns:a16="http://schemas.microsoft.com/office/drawing/2014/main" id="{AD0F4669-0CD6-461F-A597-C532BE273A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30667"/>
              </p:ext>
            </p:extLst>
          </p:nvPr>
        </p:nvGraphicFramePr>
        <p:xfrm>
          <a:off x="121219" y="659999"/>
          <a:ext cx="9028206" cy="32120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7" name="Immagine 6">
            <a:extLst>
              <a:ext uri="{FF2B5EF4-FFF2-40B4-BE49-F238E27FC236}">
                <a16:creationId xmlns:a16="http://schemas.microsoft.com/office/drawing/2014/main" id="{D367EE8F-D0AC-45B7-BC94-6150C9739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09" y="4149633"/>
            <a:ext cx="4590686" cy="2353260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3764B321-A549-4CC7-A8F7-2F15D8DE11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24972" y="928529"/>
            <a:ext cx="3145809" cy="2426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183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C7D64903-1FE2-4844-A651-774B89A1E5DE}"/>
              </a:ext>
            </a:extLst>
          </p:cNvPr>
          <p:cNvSpPr txBox="1"/>
          <p:nvPr/>
        </p:nvSpPr>
        <p:spPr>
          <a:xfrm>
            <a:off x="8300628" y="137266"/>
            <a:ext cx="380554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Trattate 15 commesse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Prime 2 per pesi movimentati (90%)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Edilstrade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Ponte ,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Palazz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BG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36 ore complessive imputate non a commessa (lavori da fabbro, attività prive di disegni, attività di aggiustaggio manuale ecc. ecc.)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90 ore dedicate al rinforzo delle capriate del capannone MCC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5BCA36F-B602-4547-9EC4-7834E7BA7E48}"/>
              </a:ext>
            </a:extLst>
          </p:cNvPr>
          <p:cNvSpPr txBox="1"/>
          <p:nvPr/>
        </p:nvSpPr>
        <p:spPr>
          <a:xfrm>
            <a:off x="4929695" y="43205"/>
            <a:ext cx="240326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GIUGNO: DEPLOYMENT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D2FAD20-324C-4CD2-A92F-4E99E27A8CED}"/>
              </a:ext>
            </a:extLst>
          </p:cNvPr>
          <p:cNvSpPr txBox="1"/>
          <p:nvPr/>
        </p:nvSpPr>
        <p:spPr>
          <a:xfrm>
            <a:off x="1988598" y="772397"/>
            <a:ext cx="5459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TUTTE LE COMMESSE – TOTALE MOVIMENTATI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B864A3DB-40C6-48EF-951D-180F804A08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22" y="1409700"/>
            <a:ext cx="7376160" cy="40386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4B5C45FD-263E-43D1-9E4F-5F10872316C2}"/>
              </a:ext>
            </a:extLst>
          </p:cNvPr>
          <p:cNvSpPr txBox="1"/>
          <p:nvPr/>
        </p:nvSpPr>
        <p:spPr>
          <a:xfrm>
            <a:off x="8078679" y="3276587"/>
            <a:ext cx="388841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2614 (tombini) peso non inserito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2300 (capannone MCC) = = =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2425 (cervellini) = = =</a:t>
            </a:r>
          </a:p>
          <a:p>
            <a:pPr algn="ctr"/>
            <a:r>
              <a:rPr lang="it-IT" dirty="0">
                <a:solidFill>
                  <a:srgbClr val="FF0000"/>
                </a:solidFill>
              </a:rPr>
              <a:t>CANTIERI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2426 (</a:t>
            </a:r>
            <a:r>
              <a:rPr lang="it-IT" dirty="0" err="1"/>
              <a:t>S.Camillo</a:t>
            </a:r>
            <a:r>
              <a:rPr lang="it-IT" dirty="0"/>
              <a:t>) economie montaggio dissipatori / </a:t>
            </a:r>
            <a:r>
              <a:rPr lang="it-IT" dirty="0" err="1"/>
              <a:t>conduz</a:t>
            </a:r>
            <a:r>
              <a:rPr lang="it-IT" dirty="0"/>
              <a:t>. 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2518 (</a:t>
            </a:r>
            <a:r>
              <a:rPr lang="it-IT" dirty="0" err="1"/>
              <a:t>Alsco</a:t>
            </a:r>
            <a:r>
              <a:rPr lang="it-IT" dirty="0"/>
              <a:t>) riparazione / modifica gradini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2531 (NWR) </a:t>
            </a:r>
            <a:r>
              <a:rPr lang="it-IT" dirty="0" err="1"/>
              <a:t>completam</a:t>
            </a:r>
            <a:r>
              <a:rPr lang="it-IT" dirty="0"/>
              <a:t>. Portoni/infissi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2544 (Parapetti tubo </a:t>
            </a:r>
            <a:r>
              <a:rPr lang="it-IT" dirty="0" err="1"/>
              <a:t>Sinergo</a:t>
            </a:r>
            <a:r>
              <a:rPr lang="it-IT" dirty="0"/>
              <a:t> NA)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dirty="0"/>
              <a:t>2604 (Aranciera)</a:t>
            </a:r>
          </a:p>
        </p:txBody>
      </p:sp>
    </p:spTree>
    <p:extLst>
      <p:ext uri="{BB962C8B-B14F-4D97-AF65-F5344CB8AC3E}">
        <p14:creationId xmlns:p14="http://schemas.microsoft.com/office/powerpoint/2010/main" val="13102608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Grafico 7">
            <a:extLst>
              <a:ext uri="{FF2B5EF4-FFF2-40B4-BE49-F238E27FC236}">
                <a16:creationId xmlns:a16="http://schemas.microsoft.com/office/drawing/2014/main" id="{6BC7E4B7-75FD-47BA-B208-E12B94F857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88834536"/>
              </p:ext>
            </p:extLst>
          </p:nvPr>
        </p:nvGraphicFramePr>
        <p:xfrm>
          <a:off x="62144" y="150920"/>
          <a:ext cx="11887200" cy="34800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" name="Grafico 2">
            <a:extLst>
              <a:ext uri="{FF2B5EF4-FFF2-40B4-BE49-F238E27FC236}">
                <a16:creationId xmlns:a16="http://schemas.microsoft.com/office/drawing/2014/main" id="{925CF397-4D8B-4358-895A-3A9A9C22A6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9281050"/>
              </p:ext>
            </p:extLst>
          </p:nvPr>
        </p:nvGraphicFramePr>
        <p:xfrm>
          <a:off x="62144" y="3630967"/>
          <a:ext cx="11887200" cy="3227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39737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sellaDiTesto 7">
            <a:extLst>
              <a:ext uri="{FF2B5EF4-FFF2-40B4-BE49-F238E27FC236}">
                <a16:creationId xmlns:a16="http://schemas.microsoft.com/office/drawing/2014/main" id="{F5BCA36F-B602-4547-9EC4-7834E7BA7E48}"/>
              </a:ext>
            </a:extLst>
          </p:cNvPr>
          <p:cNvSpPr txBox="1"/>
          <p:nvPr/>
        </p:nvSpPr>
        <p:spPr>
          <a:xfrm>
            <a:off x="4929695" y="43205"/>
            <a:ext cx="2403260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GIUGNO: DEPLOYMENT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F7AF639E-3AED-42A1-829A-7449869BF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239" y="772397"/>
            <a:ext cx="6268138" cy="3772568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90813040-91C6-4EB9-94B1-36332DA7F7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39" y="4817837"/>
            <a:ext cx="7551420" cy="166116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AE1656B4-E6AB-49D7-A326-BA9A2714B606}"/>
              </a:ext>
            </a:extLst>
          </p:cNvPr>
          <p:cNvSpPr txBox="1"/>
          <p:nvPr/>
        </p:nvSpPr>
        <p:spPr>
          <a:xfrm>
            <a:off x="5868140" y="2041864"/>
            <a:ext cx="1802167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it-IT" dirty="0"/>
              <a:t>Attesa dati (Valentina)</a:t>
            </a:r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38E75458-E65A-4D8A-8A30-6F16AD74299F}"/>
              </a:ext>
            </a:extLst>
          </p:cNvPr>
          <p:cNvCxnSpPr/>
          <p:nvPr/>
        </p:nvCxnSpPr>
        <p:spPr>
          <a:xfrm flipV="1">
            <a:off x="541538" y="1083076"/>
            <a:ext cx="5690586" cy="53959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ttore diritto 9">
            <a:extLst>
              <a:ext uri="{FF2B5EF4-FFF2-40B4-BE49-F238E27FC236}">
                <a16:creationId xmlns:a16="http://schemas.microsoft.com/office/drawing/2014/main" id="{9E0B775E-9324-48FA-B75D-E7D8A63AE26F}"/>
              </a:ext>
            </a:extLst>
          </p:cNvPr>
          <p:cNvCxnSpPr/>
          <p:nvPr/>
        </p:nvCxnSpPr>
        <p:spPr>
          <a:xfrm>
            <a:off x="337351" y="499525"/>
            <a:ext cx="7755607" cy="572372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2405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2812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904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8888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7828F-B542-9C3A-AC75-80790CFF2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7711BDC5-5554-F6E4-36DE-22637827CE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095"/>
          <a:stretch>
            <a:fillRect/>
          </a:stretch>
        </p:blipFill>
        <p:spPr>
          <a:xfrm>
            <a:off x="10975311" y="6421218"/>
            <a:ext cx="1093000" cy="362760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3AB247C8-CD36-4162-84BF-3D5CA9149046}"/>
              </a:ext>
            </a:extLst>
          </p:cNvPr>
          <p:cNvSpPr txBox="1"/>
          <p:nvPr/>
        </p:nvSpPr>
        <p:spPr>
          <a:xfrm>
            <a:off x="2676743" y="67450"/>
            <a:ext cx="671659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 25_04 TUBI EUROS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694E590D-C7BA-409C-B673-223853C87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25" y="584262"/>
            <a:ext cx="11791950" cy="377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3602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8AF7E734-DB8D-420C-9B17-4BE80F8A2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3679"/>
            <a:ext cx="12192000" cy="1897529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4BFD640-63CB-440A-BA1D-9B3617F207CB}"/>
              </a:ext>
            </a:extLst>
          </p:cNvPr>
          <p:cNvSpPr txBox="1"/>
          <p:nvPr/>
        </p:nvSpPr>
        <p:spPr>
          <a:xfrm>
            <a:off x="2676743" y="67450"/>
            <a:ext cx="671659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 25_04 TRAVI EUROSC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A9863E6B-5C4A-4804-B9A5-254F7634A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42717"/>
            <a:ext cx="12192000" cy="2868706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718108F5-D673-4BE9-9404-EE05045B2E8B}"/>
              </a:ext>
            </a:extLst>
          </p:cNvPr>
          <p:cNvSpPr txBox="1"/>
          <p:nvPr/>
        </p:nvSpPr>
        <p:spPr>
          <a:xfrm>
            <a:off x="381740" y="5734975"/>
            <a:ext cx="76436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PESO HEM 320 = 245 KG/M LUNGHEZZE VARIE (MEDIA 11.000) PESO 2695</a:t>
            </a:r>
          </a:p>
          <a:p>
            <a:r>
              <a:rPr lang="it-IT" dirty="0"/>
              <a:t>TEMPO MEDIO ASSEMBLAGGIO TRAVE 3,5 ORE SALDATURA TRAVE 10,5 ORE</a:t>
            </a:r>
          </a:p>
          <a:p>
            <a:r>
              <a:rPr lang="it-IT" dirty="0">
                <a:highlight>
                  <a:srgbClr val="FFFF00"/>
                </a:highlight>
              </a:rPr>
              <a:t>TOTALE 14 ORE = AL TEMPO STIMATO </a:t>
            </a:r>
          </a:p>
        </p:txBody>
      </p:sp>
    </p:spTree>
    <p:extLst>
      <p:ext uri="{BB962C8B-B14F-4D97-AF65-F5344CB8AC3E}">
        <p14:creationId xmlns:p14="http://schemas.microsoft.com/office/powerpoint/2010/main" val="2971799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EFFB2E99-6475-491A-9E42-46D81E5313F4}"/>
              </a:ext>
            </a:extLst>
          </p:cNvPr>
          <p:cNvSpPr txBox="1"/>
          <p:nvPr/>
        </p:nvSpPr>
        <p:spPr>
          <a:xfrm>
            <a:off x="2676743" y="67450"/>
            <a:ext cx="671659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TAGLIO LASER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E3B0442C-9B42-47DB-8059-59AAB4A02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667" y="2119078"/>
            <a:ext cx="12042124" cy="1079282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113676DA-B244-4A4F-B1C0-84CAB1306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67" y="603682"/>
            <a:ext cx="12042124" cy="1309393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1183819A-72C5-40F2-B064-98C3039B0F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240047"/>
            <a:ext cx="12192000" cy="1758821"/>
          </a:xfrm>
          <a:prstGeom prst="rect">
            <a:avLst/>
          </a:prstGeom>
        </p:spPr>
      </p:pic>
      <p:pic>
        <p:nvPicPr>
          <p:cNvPr id="13" name="Immagine 12">
            <a:extLst>
              <a:ext uri="{FF2B5EF4-FFF2-40B4-BE49-F238E27FC236}">
                <a16:creationId xmlns:a16="http://schemas.microsoft.com/office/drawing/2014/main" id="{01C8F780-DA77-4B94-BBF4-1F569C99C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81212"/>
            <a:ext cx="12192000" cy="79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823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>
            <a:extLst>
              <a:ext uri="{FF2B5EF4-FFF2-40B4-BE49-F238E27FC236}">
                <a16:creationId xmlns:a16="http://schemas.microsoft.com/office/drawing/2014/main" id="{EFFB2E99-6475-491A-9E42-46D81E5313F4}"/>
              </a:ext>
            </a:extLst>
          </p:cNvPr>
          <p:cNvSpPr txBox="1"/>
          <p:nvPr/>
        </p:nvSpPr>
        <p:spPr>
          <a:xfrm>
            <a:off x="2676743" y="67450"/>
            <a:ext cx="6716593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TAGLIO LASER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C223605D-AFAD-4D79-88D5-42C6A6042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0291"/>
            <a:ext cx="12192000" cy="184002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CDAC5B35-4F38-477E-9F1A-95D0E9EF0D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03820"/>
            <a:ext cx="12192000" cy="135300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359B478F-A755-4C47-8F23-33AF0ED68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20335"/>
            <a:ext cx="12192000" cy="799843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84DBAA42-07E5-4A53-8602-34A825E9C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5174474"/>
            <a:ext cx="12192000" cy="108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26034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533</Words>
  <Application>Microsoft Office PowerPoint</Application>
  <PresentationFormat>Widescreen</PresentationFormat>
  <Paragraphs>76</Paragraphs>
  <Slides>21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Nicola Giuliano</dc:creator>
  <cp:lastModifiedBy>Nicola Giuliano</cp:lastModifiedBy>
  <cp:revision>46</cp:revision>
  <cp:lastPrinted>2026-07-07T13:31:30Z</cp:lastPrinted>
  <dcterms:created xsi:type="dcterms:W3CDTF">2026-03-31T12:34:06Z</dcterms:created>
  <dcterms:modified xsi:type="dcterms:W3CDTF">2026-07-07T13:59:36Z</dcterms:modified>
</cp:coreProperties>
</file>